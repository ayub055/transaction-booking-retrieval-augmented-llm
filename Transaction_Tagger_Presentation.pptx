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1" r:id="rId12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4206240" cy="54864"/>
          </a:xfrm>
          <a:prstGeom prst="rect">
            <a:avLst/>
          </a:prstGeom>
          <a:solidFill>
            <a:srgbClr val="27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4206240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 i="0">
                <a:solidFill>
                  <a:srgbClr val="224A85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11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D8"/>
                </a:solidFill>
                <a:latin typeface="Calibri"/>
              </a:rPr>
              <a:t>CONFIDENTIAL  ·  AI STRATEGY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B3A6B"/>
                </a:solidFill>
                <a:latin typeface="Calibri"/>
              </a:rPr>
              <a:t>Intelligence-Led</a:t>
            </a:r>
          </a:p>
          <a:p>
            <a:pPr algn="l"/>
            <a:r>
              <a:rPr sz="4000" b="1" i="0">
                <a:solidFill>
                  <a:srgbClr val="1B3A6B"/>
                </a:solidFill>
                <a:latin typeface="Calibri"/>
              </a:rPr>
              <a:t>Transaction</a:t>
            </a:r>
          </a:p>
          <a:p>
            <a:pPr algn="l"/>
            <a:r>
              <a:rPr sz="4000" b="1" i="0">
                <a:solidFill>
                  <a:srgbClr val="275BAD"/>
                </a:solidFill>
                <a:latin typeface="Calibri"/>
              </a:rPr>
              <a:t>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03320"/>
            <a:ext cx="27432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8"/>
                </a:solidFill>
                <a:latin typeface="Calibri"/>
              </a:rPr>
              <a:t>How the AI Team adapted Amazon Science research
to solve a real-world Indian banking problem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937760"/>
            <a:ext cx="1645920" cy="749808"/>
          </a:xfrm>
          <a:prstGeom prst="rect">
            <a:avLst/>
          </a:prstGeom>
          <a:solidFill>
            <a:srgbClr val="E8EDF7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992624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43</a:t>
            </a:r>
          </a:p>
          <a:p>
            <a:pPr algn="ctr"/>
            <a:r>
              <a:rPr sz="900" b="0" i="0">
                <a:solidFill>
                  <a:srgbClr val="556578"/>
                </a:solidFill>
                <a:latin typeface="Calibri"/>
              </a:rPr>
              <a:t>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2512" y="4937760"/>
            <a:ext cx="1645920" cy="749808"/>
          </a:xfrm>
          <a:prstGeom prst="rect">
            <a:avLst/>
          </a:prstGeom>
          <a:solidFill>
            <a:srgbClr val="E8EDF7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992624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35K+</a:t>
            </a:r>
          </a:p>
          <a:p>
            <a:pPr algn="ctr"/>
            <a:r>
              <a:rPr sz="900" b="0" i="0">
                <a:solidFill>
                  <a:srgbClr val="556578"/>
                </a:solidFill>
                <a:latin typeface="Calibri"/>
              </a:rPr>
              <a:t>Labeled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4937760"/>
            <a:ext cx="1645920" cy="749808"/>
          </a:xfrm>
          <a:prstGeom prst="rect">
            <a:avLst/>
          </a:prstGeom>
          <a:solidFill>
            <a:srgbClr val="E8EDF7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4992624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10M+</a:t>
            </a:r>
          </a:p>
          <a:p>
            <a:pPr algn="ctr"/>
            <a:r>
              <a:rPr sz="900" b="0" i="0">
                <a:solidFill>
                  <a:srgbClr val="556578"/>
                </a:solidFill>
                <a:latin typeface="Calibri"/>
              </a:rPr>
              <a:t>Txns / 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3536" y="4937760"/>
            <a:ext cx="1645920" cy="749808"/>
          </a:xfrm>
          <a:prstGeom prst="rect">
            <a:avLst/>
          </a:prstGeom>
          <a:solidFill>
            <a:srgbClr val="E8EDF7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03536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3536" y="4992624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&lt;15ms</a:t>
            </a:r>
          </a:p>
          <a:p>
            <a:pPr algn="ctr"/>
            <a:r>
              <a:rPr sz="900" b="0" i="0">
                <a:solidFill>
                  <a:srgbClr val="556578"/>
                </a:solidFill>
                <a:latin typeface="Calibri"/>
              </a:rPr>
              <a:t>Per 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A8BB"/>
                </a:solidFill>
                <a:latin typeface="Calibri"/>
              </a:rPr>
              <a:t>Adapted from: 'Cash Transaction Booking via Retrieval-Augmented LLM'  —  Amazon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The Strategic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8"/>
                </a:solidFill>
                <a:latin typeface="Calibri"/>
              </a:rPr>
              <a:t>From brittle rule-based regex to self-learning AI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4887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4436"/>
                <a:gridCol w="5774436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THE OLD WAY  —  Regex / Rule Engine</a:t>
                      </a:r>
                    </a:p>
                  </a:txBody>
                  <a:tcPr>
                    <a:solidFill>
                      <a:srgbClr val="C0392B"/>
                    </a:solidFill>
                    <a:lnL w="6350" cap="flat" cmpd="sng">
                      <a:solidFill>
                        <a:srgbClr val="C0392B"/>
                      </a:solidFill>
                    </a:lnL>
                    <a:lnR w="6350" cap="flat" cmpd="sng">
                      <a:solidFill>
                        <a:srgbClr val="C0392B"/>
                      </a:solidFill>
                    </a:lnR>
                    <a:lnT w="6350" cap="flat" cmpd="sng">
                      <a:solidFill>
                        <a:srgbClr val="C0392B"/>
                      </a:solidFill>
                    </a:lnT>
                    <a:lnB w="6350" cap="flat" cmpd="sng">
                      <a:solidFill>
                        <a:srgbClr val="C0392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THE NEW WAY  —  RAG + Embeddings + LLM</a:t>
                      </a:r>
                    </a:p>
                  </a:txBody>
                  <a:tcPr>
                    <a:solidFill>
                      <a:srgbClr val="1A7A4A"/>
                    </a:solidFill>
                    <a:lnL w="6350" cap="flat" cmpd="sng">
                      <a:solidFill>
                        <a:srgbClr val="1A7A4A"/>
                      </a:solidFill>
                    </a:lnL>
                    <a:lnR w="6350" cap="flat" cmpd="sng">
                      <a:solidFill>
                        <a:srgbClr val="1A7A4A"/>
                      </a:solidFill>
                    </a:lnR>
                    <a:lnT w="6350" cap="flat" cmpd="sng">
                      <a:solidFill>
                        <a:srgbClr val="1A7A4A"/>
                      </a:solidFill>
                    </a:lnT>
                    <a:lnB w="6350" cap="flat" cmpd="sng">
                      <a:solidFill>
                        <a:srgbClr val="1A7A4A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0392B"/>
                          </a:solidFill>
                          <a:latin typeface="Calibri"/>
                        </a:rPr>
                        <a:t>✗   Hundreds of manually curated regex patterns per category</a:t>
                      </a:r>
                    </a:p>
                  </a:txBody>
                  <a:tcPr>
                    <a:solidFill>
                      <a:srgbClr val="FDEDEB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7A4A"/>
                          </a:solidFill>
                          <a:latin typeface="Calibri"/>
                        </a:rPr>
                        <a:t>✓   Learns from 35,000+ labeled examples; generalises to unseen formats</a:t>
                      </a:r>
                    </a:p>
                  </a:txBody>
                  <a:tcPr>
                    <a:solidFill>
                      <a:srgbClr val="E8F5EE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0392B"/>
                          </a:solidFill>
                          <a:latin typeface="Calibri"/>
                        </a:rPr>
                        <a:t>✗   Fails silently on unseen formats — new UPI apps, merchant name changes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7A4A"/>
                          </a:solidFill>
                          <a:latin typeface="Calibri"/>
                        </a:rPr>
                        <a:t>✓   Handles Hindi/English mix, UPI IDs, IMPS/NEFT references natively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0392B"/>
                          </a:solidFill>
                          <a:latin typeface="Calibri"/>
                        </a:rPr>
                        <a:t>✗   Every new payment type requires a developer to update the rules</a:t>
                      </a:r>
                    </a:p>
                  </a:txBody>
                  <a:tcPr>
                    <a:solidFill>
                      <a:srgbClr val="FDEDEB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7A4A"/>
                          </a:solidFill>
                          <a:latin typeface="Calibri"/>
                        </a:rPr>
                        <a:t>✓   New payment types flagged as Out-of-Distribution — never silently mis-tagged</a:t>
                      </a:r>
                    </a:p>
                  </a:txBody>
                  <a:tcPr>
                    <a:solidFill>
                      <a:srgbClr val="E8F5EE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0392B"/>
                          </a:solidFill>
                          <a:latin typeface="Calibri"/>
                        </a:rPr>
                        <a:t>✗   High False Positives — e.g. 'AMAZON REFUND' tagged as Shopping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7A4A"/>
                          </a:solidFill>
                          <a:latin typeface="Calibri"/>
                        </a:rPr>
                        <a:t>✓   Confidence-gated: uncertain predictions escalate to LLM instead of guessing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0392B"/>
                          </a:solidFill>
                          <a:latin typeface="Calibri"/>
                        </a:rPr>
                        <a:t>✗   No concept of 'unknown' — every transaction is force-tagged into a bucket</a:t>
                      </a:r>
                    </a:p>
                  </a:txBody>
                  <a:tcPr>
                    <a:solidFill>
                      <a:srgbClr val="FDEDEB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7A4A"/>
                          </a:solidFill>
                          <a:latin typeface="Calibri"/>
                        </a:rPr>
                        <a:t>✓   Self-improving — more labelled data improves the model; zero regex changes</a:t>
                      </a:r>
                    </a:p>
                  </a:txBody>
                  <a:tcPr>
                    <a:solidFill>
                      <a:srgbClr val="E8F5EE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C0392B"/>
                          </a:solidFill>
                          <a:latin typeface="Calibri"/>
                        </a:rPr>
                        <a:t>✗   Brittle by design: one merchant rename breaks an entire category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7A4A"/>
                          </a:solidFill>
                          <a:latin typeface="Calibri"/>
                        </a:rPr>
                        <a:t>✓   Full audit trail: top-3 most similar past transactions per prediction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43 categories  ·  35,000+ labeled records  ·  10M+ transactions /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Our Solution: The Amazon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8"/>
                </a:solidFill>
                <a:latin typeface="Calibri"/>
              </a:rPr>
              <a:t>We didn't just apply the research — we extended it for Indian banking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61872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Transaction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325880"/>
            <a:ext cx="146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0824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824" y="1261872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Fusion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325880"/>
            <a:ext cx="146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1608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1261872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FAISS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325880"/>
            <a:ext cx="146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2392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1261872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Vote +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25880"/>
            <a:ext cx="146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3176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1261872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Confidence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325880"/>
            <a:ext cx="146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261872"/>
            <a:ext cx="1664208" cy="3840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1261872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Output / LLM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1828800"/>
          <a:ext cx="1154887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361688"/>
                <a:gridCol w="4352544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INNOVATION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GAP WE ADDRESSED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BUSINESS IMPACT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3A6B"/>
                          </a:solidFill>
                          <a:latin typeface="Calibri"/>
                        </a:rPr>
                        <a:t>Stratified FAISS Index
(class cap: 500 per category)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556578"/>
                          </a:solidFill>
                          <a:latin typeface="Calibri"/>
                        </a:rPr>
                        <a:t>Amazon's paper assumed balanced data.
Our dataset is 20:1 skewed — majority classes drown minority ones.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7A4A"/>
                          </a:solidFill>
                          <a:latin typeface="Calibri"/>
                        </a:rPr>
                        <a:t>Loan Repayment, Insurance, Tax categories now achieve fair retrieval accuracy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3A6B"/>
                          </a:solidFill>
                          <a:latin typeface="Calibri"/>
                        </a:rPr>
                        <a:t>Prototype Blending
(k-NN score + class centroid)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556578"/>
                          </a:solidFill>
                          <a:latin typeface="Calibri"/>
                        </a:rPr>
                        <a:t>Nearest-neighbour alone is noisy at decision boundaries for classes with only 250 samples.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7A4A"/>
                          </a:solidFill>
                          <a:latin typeface="Calibri"/>
                        </a:rPr>
                        <a:t>Smoother, more reliable predictions on rare transaction types — no bias toward frequent classes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3A6B"/>
                          </a:solidFill>
                          <a:latin typeface="Calibri"/>
                        </a:rPr>
                        <a:t>OOD Detection
(distance-threshold calibration)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556578"/>
                          </a:solidFill>
                          <a:latin typeface="Calibri"/>
                        </a:rPr>
                        <a:t>The Amazon paper had no mechanism to say 'I don't know'. Every transaction was force-classified.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7A4A"/>
                          </a:solidFill>
                          <a:latin typeface="Calibri"/>
                        </a:rPr>
                        <a:t>Zero silent misclassifications. New payment types (new UPI apps, wallets) are flagged, not guessed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3A6B"/>
                          </a:solidFill>
                          <a:latin typeface="Calibri"/>
                        </a:rPr>
                        <a:t>IndicBERT
(Indian language model)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556578"/>
                          </a:solidFill>
                          <a:latin typeface="Calibri"/>
                        </a:rPr>
                        <a:t>Amazon used English BERT trained on e-commerce text. Our data is Hindi/English transliterated.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7A4A"/>
                          </a:solidFill>
                          <a:latin typeface="Calibri"/>
                        </a:rPr>
                        <a:t>+3–5% accuracy on UPI/IMPS descriptions. Handles 'PAYTM/9876543@okaxis' natively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3A6B"/>
                          </a:solidFill>
                          <a:latin typeface="Calibri"/>
                        </a:rPr>
                        <a:t>LLM Fallback
(confidence-gated escalation)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556578"/>
                          </a:solidFill>
                          <a:latin typeface="Calibri"/>
                        </a:rPr>
                        <a:t>Low-confidence predictions below 75% threshold need a second opinion before committing.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7A4A"/>
                          </a:solidFill>
                          <a:latin typeface="Calibri"/>
                        </a:rPr>
                        <a:t>90% of transactions are fully automated. Only ~10% escalate to LLM — keeping costs minimal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15ms latency per transaction  ·  1M transactions processed in 15 minutes  ·  90% fully automated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Challenges Amazon's Paper Never Had to 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8"/>
                </a:solidFill>
                <a:latin typeface="Calibri"/>
              </a:rPr>
              <a:t>Research benchmarks don't have production-scale imbalance, Indian text, or budget constraints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48872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78808"/>
                <a:gridCol w="4352544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HOW WE SOLVED IT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 TO THE BUSINESS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</a:tr>
              <a:tr h="11795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3A6B"/>
                          </a:solidFill>
                          <a:latin typeface="Calibri"/>
                        </a:rPr>
                        <a:t>Extreme Class Imbalance
'Salary' = 5,000 samples
'Loan Repayment' = 250 samples
(20:1 ratio)</a:t>
                      </a:r>
                    </a:p>
                  </a:txBody>
                  <a:tcPr>
                    <a:solidFill>
                      <a:srgbClr val="E8EDF7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56578"/>
                          </a:solidFill>
                          <a:latin typeface="Calibri"/>
                        </a:rPr>
                        <a:t>Supervised Contrastive Loss (SupCon) replaces triplet loss — uses every in-batch positive pair.
Combined with inverse-frequency class weighting and class-balanced batch sampling.</a:t>
                      </a:r>
                    </a:p>
                  </a:txBody>
                  <a:tcPr>
                    <a:solidFill>
                      <a:srgbClr val="E8EDF7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E"/>
                          </a:solidFill>
                          <a:latin typeface="Calibri"/>
                        </a:rPr>
                        <a:t>Without this fix, 8–10 critical categories (Loans, Taxes, Insurance) would have near-zero accuracy.
These categories carry the highest regulatory and financial risk.</a:t>
                      </a:r>
                    </a:p>
                  </a:txBody>
                  <a:tcPr>
                    <a:solidFill>
                      <a:srgbClr val="E8EDF7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11795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3A6B"/>
                          </a:solidFill>
                          <a:latin typeface="Calibri"/>
                        </a:rPr>
                        <a:t>The 'Confident But Wrong' Problem
New UPI apps and wallets emerge weekly.
No 'unknown' mode → silent mis-tagging.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56578"/>
                          </a:solidFill>
                          <a:latin typeface="Calibri"/>
                        </a:rPr>
                        <a:t>Distance-based OOD detection calibrated on 192 rows of real customer transactions.
Flags uncertainty instead of guessing — uncertain cases escalate to LLM.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E"/>
                          </a:solidFill>
                          <a:latin typeface="Calibri"/>
                        </a:rPr>
                        <a:t>Eliminates the most dangerous failure mode in automated financial tagging.
Regulators and auditors require that unknown transactions are escalated, not silently filed.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11795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3A6B"/>
                          </a:solidFill>
                          <a:latin typeface="Calibri"/>
                        </a:rPr>
                        <a:t>Indian Language &amp; Payment Stack
Amazon trained on English e-commerce.
Our data: UPI IDs, IMPS codes, Hindi merchant names in Roman script.</a:t>
                      </a:r>
                    </a:p>
                  </a:txBody>
                  <a:tcPr>
                    <a:solidFill>
                      <a:srgbClr val="E8EDF7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56578"/>
                          </a:solidFill>
                          <a:latin typeface="Calibri"/>
                        </a:rPr>
                        <a:t>Fine-tuned IndicBERT (trained on Indian-language text) using gradual layer unfreezing.
Preserves general language knowledge while adapting to Indian banking domain.</a:t>
                      </a:r>
                    </a:p>
                  </a:txBody>
                  <a:tcPr>
                    <a:solidFill>
                      <a:srgbClr val="E8EDF7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E"/>
                          </a:solidFill>
                          <a:latin typeface="Calibri"/>
                        </a:rPr>
                        <a:t>15–20% accuracy gap on UPI-heavy transactions without this.
India-specific payment infrastructure is not covered by any standard English NLP model.</a:t>
                      </a:r>
                    </a:p>
                  </a:txBody>
                  <a:tcPr>
                    <a:solidFill>
                      <a:srgbClr val="E8EDF7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11795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3A6B"/>
                          </a:solidFill>
                          <a:latin typeface="Calibri"/>
                        </a:rPr>
                        <a:t>Inference at 10M+ Transactions/Month on a Startup Budget
Naive BERT + flat search: ~8 hours per 1M txns.
Cloud GPU at naive scale: ~$2,000/month.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56578"/>
                          </a:solidFill>
                          <a:latin typeface="Calibri"/>
                        </a:rPr>
                        <a:t>HNSW index: 50× faster similarity search.
FP16 precision encoding: 2× faster, 40% less GPU memory.
Batched GPU matrix operations for prototype scoring.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E"/>
                          </a:solidFill>
                          <a:latin typeface="Calibri"/>
                        </a:rPr>
                        <a:t>1M transactions processed in 15 minutes.
Cloud GPU cost reduced from ~$2,000/month to ~$80/month.
Linear cost scaling — handles 10× growth without architecture changes.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SupCon loss · OOD detection · IndicBERT · HNSW index — each solving a gap the Amazon paper left 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578"/>
                </a:solidFill>
                <a:latin typeface="Calibri"/>
              </a:rPr>
              <a:t>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Impact &amp; The Road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8"/>
                </a:solidFill>
                <a:latin typeface="Calibri"/>
              </a:rPr>
              <a:t>From proof-of-concept to production-grade proprietary AI asset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34440"/>
          <a:ext cx="6126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74519"/>
                <a:gridCol w="1874519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A6B"/>
                    </a:solidFill>
                    <a:lnL w="6350" cap="flat" cmpd="sng">
                      <a:solidFill>
                        <a:srgbClr val="1B3A6B"/>
                      </a:solidFill>
                    </a:lnL>
                    <a:lnR w="6350" cap="flat" cmpd="sng">
                      <a:solidFill>
                        <a:srgbClr val="1B3A6B"/>
                      </a:solidFill>
                    </a:lnR>
                    <a:lnT w="6350" cap="flat" cmpd="sng">
                      <a:solidFill>
                        <a:srgbClr val="1B3A6B"/>
                      </a:solidFill>
                    </a:lnT>
                    <a:lnB w="6350" cap="flat" cmpd="sng">
                      <a:solidFill>
                        <a:srgbClr val="1B3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C0392B"/>
                    </a:solidFill>
                    <a:lnL w="6350" cap="flat" cmpd="sng">
                      <a:solidFill>
                        <a:srgbClr val="C0392B"/>
                      </a:solidFill>
                    </a:lnL>
                    <a:lnR w="6350" cap="flat" cmpd="sng">
                      <a:solidFill>
                        <a:srgbClr val="C0392B"/>
                      </a:solidFill>
                    </a:lnR>
                    <a:lnT w="6350" cap="flat" cmpd="sng">
                      <a:solidFill>
                        <a:srgbClr val="C0392B"/>
                      </a:solidFill>
                    </a:lnT>
                    <a:lnB w="6350" cap="flat" cmpd="sng">
                      <a:solidFill>
                        <a:srgbClr val="C0392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1A7A4A"/>
                    </a:solidFill>
                    <a:lnL w="6350" cap="flat" cmpd="sng">
                      <a:solidFill>
                        <a:srgbClr val="1A7A4A"/>
                      </a:solidFill>
                    </a:lnL>
                    <a:lnR w="6350" cap="flat" cmpd="sng">
                      <a:solidFill>
                        <a:srgbClr val="1A7A4A"/>
                      </a:solidFill>
                    </a:lnR>
                    <a:lnT w="6350" cap="flat" cmpd="sng">
                      <a:solidFill>
                        <a:srgbClr val="1A7A4A"/>
                      </a:solidFill>
                    </a:lnT>
                    <a:lnB w="6350" cap="flat" cmpd="sng">
                      <a:solidFill>
                        <a:srgbClr val="1A7A4A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E"/>
                          </a:solidFill>
                          <a:latin typeface="Calibri"/>
                        </a:rPr>
                        <a:t>Tagging Throughput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Manual / weeks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7A4A"/>
                          </a:solidFill>
                          <a:latin typeface="Calibri"/>
                        </a:rPr>
                        <a:t>1M transactions in 15 min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E"/>
                          </a:solidFill>
                          <a:latin typeface="Calibri"/>
                        </a:rPr>
                        <a:t>Unknown Transactions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Silent misclassification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7A4A"/>
                          </a:solidFill>
                          <a:latin typeface="Calibri"/>
                        </a:rPr>
                        <a:t>Flagged &amp; escalated to LLM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E"/>
                          </a:solidFill>
                          <a:latin typeface="Calibri"/>
                        </a:rPr>
                        <a:t>Minority Class Accuracy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Near-zero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7A4A"/>
                          </a:solidFill>
                          <a:latin typeface="Calibri"/>
                        </a:rPr>
                        <a:t>Balanced — SupCon + stratified index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E"/>
                          </a:solidFill>
                          <a:latin typeface="Calibri"/>
                        </a:rPr>
                        <a:t>False Positive Rate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High (regex brittle)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7A4A"/>
                          </a:solidFill>
                          <a:latin typeface="Calibri"/>
                        </a:rPr>
                        <a:t>Confidence-gated; OOD-checked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E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7A4A"/>
                          </a:solidFill>
                          <a:latin typeface="Calibri"/>
                        </a:rPr>
                        <a:t>Top-3 similar txns per prediction</a:t>
                      </a:r>
                    </a:p>
                  </a:txBody>
                  <a:tcPr>
                    <a:solidFill>
                      <a:srgbClr val="F2F4F8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E"/>
                          </a:solidFill>
                          <a:latin typeface="Calibri"/>
                        </a:rPr>
                        <a:t>Cloud Infra Cost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N/A (manual process)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7A4A"/>
                          </a:solidFill>
                          <a:latin typeface="Calibri"/>
                        </a:rPr>
                        <a:t>~$80 / month GPU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D3DD"/>
                      </a:solidFill>
                    </a:lnL>
                    <a:lnR w="6350" cap="flat" cmpd="sng">
                      <a:solidFill>
                        <a:srgbClr val="CCD3DD"/>
                      </a:solidFill>
                    </a:lnR>
                    <a:lnT w="6350" cap="flat" cmpd="sng">
                      <a:solidFill>
                        <a:srgbClr val="CCD3DD"/>
                      </a:solidFill>
                    </a:lnT>
                    <a:lnB w="6350" cap="flat" cmpd="sng">
                      <a:solidFill>
                        <a:srgbClr val="CCD3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Strategic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600200"/>
            <a:ext cx="1828800" cy="25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737360"/>
            <a:ext cx="5120640" cy="969264"/>
          </a:xfrm>
          <a:prstGeom prst="rect">
            <a:avLst/>
          </a:prstGeom>
          <a:solidFill>
            <a:srgbClr val="F2F4F8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54864" cy="96926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94576" y="2039112"/>
            <a:ext cx="292608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20391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810512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Phase 1  — 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2139696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8"/>
                </a:solidFill>
                <a:latin typeface="Calibri"/>
              </a:rPr>
              <a:t>43 categories · 35K labeled records · Batch inference pipeline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761488"/>
            <a:ext cx="512064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761488"/>
            <a:ext cx="54864" cy="969264"/>
          </a:xfrm>
          <a:prstGeom prst="rect">
            <a:avLst/>
          </a:prstGeom>
          <a:solidFill>
            <a:srgbClr val="27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94576" y="3063240"/>
            <a:ext cx="292608" cy="292608"/>
          </a:xfrm>
          <a:prstGeom prst="rect">
            <a:avLst/>
          </a:prstGeom>
          <a:solidFill>
            <a:srgbClr val="27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3063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2834640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BAD"/>
                </a:solidFill>
                <a:latin typeface="Calibri"/>
              </a:rPr>
              <a:t>Phase 2  —  Active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3163824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8"/>
                </a:solidFill>
                <a:latin typeface="Calibri"/>
              </a:rPr>
              <a:t>Model flags uncertain cases · Analyst confirms · Dataset grows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785616"/>
            <a:ext cx="5120640" cy="969264"/>
          </a:xfrm>
          <a:prstGeom prst="rect">
            <a:avLst/>
          </a:prstGeom>
          <a:solidFill>
            <a:srgbClr val="F2F4F8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785616"/>
            <a:ext cx="54864" cy="9692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94576" y="4087368"/>
            <a:ext cx="292608" cy="2926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4576" y="40873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3858768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  <a:latin typeface="Calibri"/>
              </a:rPr>
              <a:t>Phase 3  —  Real-Time Streaming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4187952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8"/>
                </a:solidFill>
                <a:latin typeface="Calibri"/>
              </a:rPr>
              <a:t>Kafka / event-driven architecture for live transaction classification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809744"/>
            <a:ext cx="512064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4809744"/>
            <a:ext cx="54864" cy="9692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94576" y="5111496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94576" y="5111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4882896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860B"/>
                </a:solidFill>
                <a:latin typeface="Calibri"/>
              </a:rPr>
              <a:t>Phase 4  —  Cross-Product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521208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8"/>
                </a:solidFill>
                <a:latin typeface="Calibri"/>
              </a:rPr>
              <a:t>Fraud detection · Credit scoring · Customer segmentation
Same embedding infrastructure — compounding returns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108192"/>
            <a:ext cx="11548872" cy="603504"/>
          </a:xfrm>
          <a:prstGeom prst="rect">
            <a:avLst/>
          </a:prstGeom>
          <a:solidFill>
            <a:srgbClr val="E8EDF7"/>
          </a:solidFill>
          <a:ln w="9525"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6108192"/>
            <a:ext cx="54864" cy="6035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1996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1B3A6B"/>
                </a:solidFill>
                <a:latin typeface="Calibri"/>
              </a:rPr>
              <a:t>"This is not a vendor tool — it is a proprietary AI capability that compounds in value as our transaction data grows."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Calibri"/>
              </a:rPr>
              <a:t>Adapted from: 'Cash Transaction Booking via Retrieval-Augmented LLM'  —  Amazon Science  |  Extended by the AI Team for Indian banking at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" y="-3010055067000"/>
            <a:ext cx="11704320" cy="60201169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